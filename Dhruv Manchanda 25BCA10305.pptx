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75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embeddedFontLst>
    <p:embeddedFont>
      <p:font typeface="Century Gothic" panose="020B0502020202020204" pitchFamily="34" charset="0"/>
      <p:regular r:id="rId12"/>
      <p:bold r:id="rId13"/>
      <p:italic r:id="rId14"/>
      <p:boldItalic r:id="rId15"/>
    </p:embeddedFont>
    <p:embeddedFont>
      <p:font typeface="Quattrocento Sans" panose="020B0502050000020003" pitchFamily="34" charset="0"/>
      <p:regular r:id="rId16"/>
      <p:bold r:id="rId17"/>
      <p:italic r:id="rId18"/>
      <p:boldItalic r:id="rId19"/>
    </p:embeddedFont>
    <p:embeddedFont>
      <p:font typeface="Wingdings 3" panose="05040102010807070707" pitchFamily="18" charset="2"/>
      <p:regular r:id="rId2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1" roundtripDataSignature="AMtx7mjcLaqCWKXH7dDCTVvS4KcYR4mMI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036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570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620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592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866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347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241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376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56593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97407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32705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115937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256057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711683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133860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816212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017167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1_Picture with Caption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7"/>
          <p:cNvSpPr txBox="1"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7"/>
          <p:cNvSpPr>
            <a:spLocks noGrp="1"/>
          </p:cNvSpPr>
          <p:nvPr>
            <p:ph type="pic" idx="2"/>
          </p:nvPr>
        </p:nvSpPr>
        <p:spPr>
          <a:xfrm>
            <a:off x="5183717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17"/>
          <p:cNvSpPr txBox="1">
            <a:spLocks noGrp="1"/>
          </p:cNvSpPr>
          <p:nvPr>
            <p:ph type="body" idx="1"/>
          </p:nvPr>
        </p:nvSpPr>
        <p:spPr>
          <a:xfrm>
            <a:off x="840317" y="2057400"/>
            <a:ext cx="393276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marL="1371600" lvl="2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7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7"/>
          <p:cNvSpPr txBox="1">
            <a:spLocks noGrp="1"/>
          </p:cNvSpPr>
          <p:nvPr>
            <p:ph type="ft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7"/>
          <p:cNvSpPr txBox="1">
            <a:spLocks noGrp="1"/>
          </p:cNvSpPr>
          <p:nvPr>
            <p:ph type="sldNum" idx="12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76245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0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543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6" r:id="rId1"/>
    <p:sldLayoutId id="2147483777" r:id="rId2"/>
    <p:sldLayoutId id="2147483778" r:id="rId3"/>
    <p:sldLayoutId id="2147483779" r:id="rId4"/>
    <p:sldLayoutId id="2147483780" r:id="rId5"/>
    <p:sldLayoutId id="2147483781" r:id="rId6"/>
    <p:sldLayoutId id="2147483782" r:id="rId7"/>
    <p:sldLayoutId id="2147483783" r:id="rId8"/>
    <p:sldLayoutId id="2147483784" r:id="rId9"/>
    <p:sldLayoutId id="2147483785" r:id="rId10"/>
    <p:sldLayoutId id="2147483786" r:id="rId11"/>
    <p:sldLayoutId id="2147483787" r:id="rId12"/>
    <p:sldLayoutId id="2147483788" r:id="rId13"/>
    <p:sldLayoutId id="2147483789" r:id="rId14"/>
    <p:sldLayoutId id="2147483790" r:id="rId15"/>
    <p:sldLayoutId id="2147483791" r:id="rId16"/>
    <p:sldLayoutId id="2147483792" r:id="rId17"/>
    <p:sldLayoutId id="2147483793" r:id="rId18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BDDC8"/>
            </a:gs>
            <a:gs pos="55000">
              <a:srgbClr val="FCE5DB"/>
            </a:gs>
            <a:gs pos="100000">
              <a:srgbClr val="FEF1F7"/>
            </a:gs>
          </a:gsLst>
          <a:lin ang="5400000" scaled="0"/>
        </a:gra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>
            <a:spLocks noGrp="1"/>
          </p:cNvSpPr>
          <p:nvPr>
            <p:ph type="ctrTitle"/>
          </p:nvPr>
        </p:nvSpPr>
        <p:spPr>
          <a:xfrm>
            <a:off x="1154955" y="934065"/>
            <a:ext cx="8825658" cy="1848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Computer Programming</a:t>
            </a:r>
            <a:endParaRPr b="1" dirty="0"/>
          </a:p>
        </p:txBody>
      </p:sp>
      <p:sp>
        <p:nvSpPr>
          <p:cNvPr id="91" name="Google Shape;91;p1"/>
          <p:cNvSpPr txBox="1">
            <a:spLocks noGrp="1"/>
          </p:cNvSpPr>
          <p:nvPr>
            <p:ph type="subTitle" idx="1"/>
          </p:nvPr>
        </p:nvSpPr>
        <p:spPr>
          <a:xfrm>
            <a:off x="1302439" y="2782529"/>
            <a:ext cx="8825658" cy="861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en-IN" b="1" dirty="0"/>
              <a:t>Loops in c </a:t>
            </a:r>
            <a:endParaRPr b="1" dirty="0"/>
          </a:p>
        </p:txBody>
      </p:sp>
      <p:sp>
        <p:nvSpPr>
          <p:cNvPr id="92" name="Google Shape;92;p1"/>
          <p:cNvSpPr txBox="1"/>
          <p:nvPr/>
        </p:nvSpPr>
        <p:spPr>
          <a:xfrm>
            <a:off x="443180" y="4161501"/>
            <a:ext cx="10544175" cy="1226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Subtitle</a:t>
            </a:r>
            <a:r>
              <a:rPr lang="en-US" sz="1800" b="0" i="0" u="none" strike="noStrike" cap="none" dirty="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 </a:t>
            </a:r>
            <a:r>
              <a:rPr lang="en-US" sz="2000" b="1" i="0" u="none" strike="noStrike" cap="none" dirty="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Understanding Iterative Constructs in C</a:t>
            </a:r>
            <a:endParaRPr lang="en-IN" sz="2000" b="1" i="0" u="none" strike="noStrike" cap="none" dirty="0">
              <a:solidFill>
                <a:srgbClr val="262626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Dhruv Manchanda</a:t>
            </a:r>
            <a:endParaRPr lang="en-IN" sz="2000" b="1" i="0" u="none" strike="noStrike" cap="none" dirty="0">
              <a:solidFill>
                <a:srgbClr val="262626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25BCA10</a:t>
            </a:r>
            <a:r>
              <a:rPr lang="en-US" sz="2000" b="1" dirty="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305</a:t>
            </a:r>
            <a:endParaRPr sz="2000" b="1" i="0" u="none" strike="noStrike" cap="none" dirty="0">
              <a:solidFill>
                <a:srgbClr val="262626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 i="0" u="none" strike="noStrike" cap="none" dirty="0">
              <a:solidFill>
                <a:srgbClr val="262626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Introduction</a:t>
            </a:r>
            <a:endParaRPr b="1"/>
          </a:p>
        </p:txBody>
      </p:sp>
      <p:sp>
        <p:nvSpPr>
          <p:cNvPr id="98" name="Google Shape;98;p2"/>
          <p:cNvSpPr txBox="1">
            <a:spLocks noGrp="1"/>
          </p:cNvSpPr>
          <p:nvPr>
            <p:ph sz="half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b="1" u="sng"/>
              <a:t>What are Loops?</a:t>
            </a:r>
            <a:endParaRPr b="1" u="sng"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Loops are used to execute a block of code repeatedly.</a:t>
            </a:r>
            <a:endParaRPr sz="2000"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/>
              <a:t>They simplify repetitive tasks and reduce code redundancy.</a:t>
            </a:r>
            <a:endParaRPr sz="2000"/>
          </a:p>
        </p:txBody>
      </p:sp>
      <p:sp>
        <p:nvSpPr>
          <p:cNvPr id="99" name="Google Shape;99;p2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b="1" u="sng"/>
              <a:t>Types of loops in C</a:t>
            </a:r>
            <a:endParaRPr b="1" u="sng"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/>
              <a:t>For loop </a:t>
            </a:r>
            <a:endParaRPr sz="2000" b="1"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/>
              <a:t>While loop </a:t>
            </a:r>
            <a:endParaRPr sz="2000" b="1"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/>
              <a:t>Do-while loop</a:t>
            </a:r>
            <a:endParaRPr sz="20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u="sng"/>
              <a:t>Types of loops</a:t>
            </a:r>
            <a:endParaRPr b="1" u="sng"/>
          </a:p>
        </p:txBody>
      </p:sp>
      <p:sp>
        <p:nvSpPr>
          <p:cNvPr id="105" name="Google Shape;105;p3"/>
          <p:cNvSpPr txBox="1">
            <a:spLocks noGrp="1"/>
          </p:cNvSpPr>
          <p:nvPr>
            <p:ph type="body" idx="1"/>
          </p:nvPr>
        </p:nvSpPr>
        <p:spPr>
          <a:xfrm>
            <a:off x="919057" y="1681163"/>
            <a:ext cx="5158316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/>
              <a:t>For loop</a:t>
            </a:r>
            <a:endParaRPr/>
          </a:p>
        </p:txBody>
      </p:sp>
      <p:sp>
        <p:nvSpPr>
          <p:cNvPr id="107" name="Google Shape;107;p3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/>
              <a:t>While loop</a:t>
            </a:r>
            <a:endParaRPr/>
          </a:p>
        </p:txBody>
      </p:sp>
      <p:sp>
        <p:nvSpPr>
          <p:cNvPr id="106" name="Google Shape;106;p3"/>
          <p:cNvSpPr txBox="1">
            <a:spLocks noGrp="1"/>
          </p:cNvSpPr>
          <p:nvPr>
            <p:ph type="body" sz="quarter" idx="3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/>
              <a:t>Syntax: for(initialization; condition; increment/decrement)</a:t>
            </a:r>
            <a:endParaRPr sz="240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/>
              <a:t>Example: for(int i = 0; i &lt; 10; i++) { printf("%d", i); }</a:t>
            </a:r>
            <a:endParaRPr sz="240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/>
              <a:t>Use Case: When the number of iterations is known.</a:t>
            </a:r>
            <a:endParaRPr sz="2400"/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/>
          </a:p>
        </p:txBody>
      </p:sp>
      <p:sp>
        <p:nvSpPr>
          <p:cNvPr id="108" name="Google Shape;108;p3"/>
          <p:cNvSpPr txBox="1">
            <a:spLocks noGrp="1"/>
          </p:cNvSpPr>
          <p:nvPr>
            <p:ph sz="quarter" idx="4"/>
          </p:nvPr>
        </p:nvSpPr>
        <p:spPr>
          <a:xfrm>
            <a:off x="6172200" y="2964180"/>
            <a:ext cx="5183505" cy="3789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/>
              <a:t>Syntax: while(condition) { // code }</a:t>
            </a:r>
            <a:endParaRPr sz="240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/>
              <a:t>Example: while(x &gt; 0) { x--; }</a:t>
            </a:r>
            <a:endParaRPr sz="240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/>
              <a:t>Use Case: When the condition is checked before execution.</a:t>
            </a:r>
            <a:endParaRPr sz="2400"/>
          </a:p>
        </p:txBody>
      </p:sp>
      <p:sp>
        <p:nvSpPr>
          <p:cNvPr id="109" name="Google Shape;109;p3"/>
          <p:cNvSpPr txBox="1"/>
          <p:nvPr/>
        </p:nvSpPr>
        <p:spPr>
          <a:xfrm>
            <a:off x="1086485" y="469900"/>
            <a:ext cx="10544175" cy="423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endParaRPr sz="1800" b="0" i="0" u="none" strike="noStrike" cap="none">
              <a:solidFill>
                <a:srgbClr val="262626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"/>
          <p:cNvSpPr/>
          <p:nvPr/>
        </p:nvSpPr>
        <p:spPr>
          <a:xfrm>
            <a:off x="3175" y="-29210"/>
            <a:ext cx="12188825" cy="969645"/>
          </a:xfrm>
          <a:prstGeom prst="rect">
            <a:avLst/>
          </a:prstGeom>
          <a:solidFill>
            <a:srgbClr val="FBDD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215900" tIns="144125" rIns="91425" bIns="144125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3F3F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Comparison of Loops</a:t>
            </a:r>
            <a:endParaRPr sz="4000" b="1">
              <a:solidFill>
                <a:srgbClr val="3F3F3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16" name="Google Shape;116;p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Quattrocento Sans"/>
              <a:buNone/>
            </a:pPr>
            <a:r>
              <a:rPr lang="en-US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For loop </a:t>
            </a:r>
            <a:endParaRPr>
              <a:solidFill>
                <a:srgbClr val="262626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17" name="Google Shape;117;p4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/>
              <a:t>While loop</a:t>
            </a:r>
            <a:endParaRPr/>
          </a:p>
        </p:txBody>
      </p:sp>
      <p:sp>
        <p:nvSpPr>
          <p:cNvPr id="119" name="Google Shape;119;p4"/>
          <p:cNvSpPr txBox="1">
            <a:spLocks noGrp="1"/>
          </p:cNvSpPr>
          <p:nvPr>
            <p:ph type="body" sz="quarter" idx="3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/>
              <a:t>Condition checking happens before loop</a:t>
            </a:r>
            <a:endParaRPr sz="240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/>
              <a:t>On use case there are known iterations</a:t>
            </a:r>
            <a:endParaRPr sz="2400"/>
          </a:p>
        </p:txBody>
      </p:sp>
      <p:sp>
        <p:nvSpPr>
          <p:cNvPr id="118" name="Google Shape;118;p4"/>
          <p:cNvSpPr txBox="1">
            <a:spLocks noGrp="1"/>
          </p:cNvSpPr>
          <p:nvPr>
            <p:ph sz="quarter" idx="4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/>
              <a:t>Condition checking happens before loop</a:t>
            </a:r>
            <a:endParaRPr sz="240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/>
              <a:t>On use case there are unknown iterations</a:t>
            </a:r>
            <a:endParaRPr sz="2400"/>
          </a:p>
          <a:p>
            <a:pPr marL="342900" lvl="0" indent="-190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"/>
          <p:cNvSpPr/>
          <p:nvPr/>
        </p:nvSpPr>
        <p:spPr>
          <a:xfrm>
            <a:off x="337185" y="2724150"/>
            <a:ext cx="5622925" cy="3823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262626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28" name="Google Shape;128;p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215900" tIns="144125" rIns="91425" bIns="1441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3F3F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Code for For Loop</a:t>
            </a:r>
            <a:endParaRPr sz="4000" b="1">
              <a:solidFill>
                <a:srgbClr val="3F3F3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26" name="Google Shape;126;p5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/>
              <a:t>Explanation:</a:t>
            </a:r>
            <a:endParaRPr/>
          </a:p>
          <a:p>
            <a:pPr marL="0" lvl="0" indent="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/>
              <a:t>Initialization (int i = 1): The loop starts with i initialized to 1.</a:t>
            </a:r>
            <a:endParaRPr/>
          </a:p>
          <a:p>
            <a:pPr marL="0" lvl="0" indent="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/>
              <a:t>Condition (i &lt;= 10): The loop runs as long as i is less than or equal to 10.</a:t>
            </a:r>
            <a:endParaRPr/>
          </a:p>
          <a:p>
            <a:pPr marL="0" lvl="0" indent="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/>
              <a:t>Increment (i++): After each iteration, i is incremented by 1</a:t>
            </a:r>
            <a:endParaRPr/>
          </a:p>
        </p:txBody>
      </p:sp>
      <p:pic>
        <p:nvPicPr>
          <p:cNvPr id="125" name="Google Shape;125;p5" descr="Screenshot 2025-11-09 120601"/>
          <p:cNvPicPr preferRelativeResize="0">
            <a:picLocks noGrp="1"/>
          </p:cNvPicPr>
          <p:nvPr>
            <p:ph type="body" sz="half" idx="2"/>
          </p:nvPr>
        </p:nvPicPr>
        <p:blipFill rotWithShape="1">
          <a:blip r:embed="rId3">
            <a:alphaModFix/>
          </a:blip>
          <a:stretch/>
        </p:blipFill>
        <p:spPr>
          <a:xfrm>
            <a:off x="1155700" y="3774418"/>
            <a:ext cx="2792413" cy="160469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5"/>
          <p:cNvSpPr/>
          <p:nvPr/>
        </p:nvSpPr>
        <p:spPr>
          <a:xfrm>
            <a:off x="-3810" y="-43180"/>
            <a:ext cx="12195810" cy="969645"/>
          </a:xfrm>
          <a:prstGeom prst="rect">
            <a:avLst/>
          </a:prstGeom>
          <a:solidFill>
            <a:srgbClr val="FBDD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"/>
          <p:cNvSpPr/>
          <p:nvPr/>
        </p:nvSpPr>
        <p:spPr>
          <a:xfrm>
            <a:off x="-3810" y="-43180"/>
            <a:ext cx="12195810" cy="969645"/>
          </a:xfrm>
          <a:prstGeom prst="rect">
            <a:avLst/>
          </a:prstGeom>
          <a:solidFill>
            <a:srgbClr val="FBDD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215900" tIns="144125" rIns="91425" bIns="144125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3F3F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Case study</a:t>
            </a:r>
            <a:endParaRPr sz="4000" b="1">
              <a:solidFill>
                <a:srgbClr val="3F3F3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35" name="Google Shape;135;p6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Quattrocento Sans"/>
              <a:buNone/>
            </a:pPr>
            <a:r>
              <a:rPr lang="en-US" sz="180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Understanding the for Loop and Its Use Cases</a:t>
            </a:r>
            <a:endParaRPr sz="1800">
              <a:solidFill>
                <a:srgbClr val="262626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Quattrocento Sans"/>
              <a:buNone/>
            </a:pPr>
            <a:r>
              <a:rPr lang="en-US" sz="180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123</a:t>
            </a:r>
            <a:endParaRPr sz="1800">
              <a:solidFill>
                <a:srgbClr val="262626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Quattrocento Sans"/>
              <a:buNone/>
            </a:pPr>
            <a:r>
              <a:rPr lang="en-US" sz="180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for loop is a control flow statement used in programming to execute a block of code repeatedly. It is particularly useful when the number of iterations is known beforehand or when iterating over a sequence like a list, range, or string. The loop consists of three main components: initialization, condition, and increment/decrement.</a:t>
            </a:r>
            <a:endParaRPr sz="1800">
              <a:solidFill>
                <a:srgbClr val="262626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Quattrocento Sans"/>
              <a:buNone/>
            </a:pPr>
            <a:r>
              <a:rPr lang="en-US" sz="180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Syntax and Working of a for Loop</a:t>
            </a:r>
            <a:endParaRPr sz="1800">
              <a:solidFill>
                <a:srgbClr val="262626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Quattrocento Sans"/>
              <a:buNone/>
            </a:pPr>
            <a:r>
              <a:rPr lang="en-US" sz="180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general syntax of a for loop varies across programming languages but typically follows this structure:</a:t>
            </a:r>
            <a:endParaRPr sz="1800">
              <a:solidFill>
                <a:srgbClr val="262626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Quattrocento Sans"/>
              <a:buNone/>
            </a:pPr>
            <a:r>
              <a:rPr lang="en-US" sz="180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for variable in sequence:</a:t>
            </a:r>
            <a:endParaRPr sz="1800">
              <a:solidFill>
                <a:srgbClr val="262626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Quattrocento Sans"/>
              <a:buNone/>
            </a:pPr>
            <a:r>
              <a:rPr lang="en-US" sz="180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# Code to execute</a:t>
            </a:r>
            <a:endParaRPr sz="1800">
              <a:solidFill>
                <a:srgbClr val="262626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Quattrocento Sans"/>
              <a:buNone/>
            </a:pPr>
            <a:r>
              <a:rPr lang="en-US" sz="180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Copy</a:t>
            </a:r>
            <a:endParaRPr sz="1800">
              <a:solidFill>
                <a:srgbClr val="262626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Quattrocento Sans"/>
              <a:buNone/>
            </a:pPr>
            <a:r>
              <a:rPr lang="en-US" sz="180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 languages like C or Java, the syntax includes initialization, condition, and increment:</a:t>
            </a:r>
            <a:endParaRPr sz="1800">
              <a:solidFill>
                <a:srgbClr val="262626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Quattrocento Sans"/>
              <a:buNone/>
            </a:pPr>
            <a:r>
              <a:rPr lang="en-US" sz="180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for (initialization; condition; increment) {</a:t>
            </a:r>
            <a:endParaRPr sz="1800">
              <a:solidFill>
                <a:srgbClr val="262626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Quattrocento Sans"/>
              <a:buNone/>
            </a:pPr>
            <a:r>
              <a:rPr lang="en-US" sz="180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// Code to execute</a:t>
            </a:r>
            <a:endParaRPr sz="1800">
              <a:solidFill>
                <a:srgbClr val="262626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Quattrocento Sans"/>
              <a:buNone/>
            </a:pPr>
            <a:r>
              <a:rPr lang="en-US" sz="180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}</a:t>
            </a:r>
            <a:endParaRPr sz="1800">
              <a:solidFill>
                <a:srgbClr val="262626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Quattrocento Sans"/>
              <a:buNone/>
            </a:pPr>
            <a:r>
              <a:rPr lang="en-US" sz="180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opy</a:t>
            </a:r>
            <a:endParaRPr sz="1800">
              <a:solidFill>
                <a:srgbClr val="262626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Quattrocento Sans"/>
              <a:buNone/>
            </a:pPr>
            <a:r>
              <a:rPr lang="en-US" sz="180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loop works as follows:</a:t>
            </a:r>
            <a:endParaRPr sz="1800">
              <a:solidFill>
                <a:srgbClr val="262626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Quattrocento Sans"/>
              <a:buNone/>
            </a:pPr>
            <a:r>
              <a:rPr lang="en-US" sz="180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Initialization: A variable is initialized to control the loop.</a:t>
            </a:r>
            <a:endParaRPr sz="1800">
              <a:solidFill>
                <a:srgbClr val="262626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Quattrocento Sans"/>
              <a:buNone/>
            </a:pPr>
            <a:r>
              <a:rPr lang="en-US" sz="180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Condition: The loop checks a condition before each iteration. If true, the loop body executes; otherwise, it terminates</a:t>
            </a:r>
            <a:endParaRPr sz="1800">
              <a:solidFill>
                <a:srgbClr val="262626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36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Quattrocento Sans"/>
              <a:buNone/>
            </a:pPr>
            <a:r>
              <a:rPr lang="en-US" sz="1800">
                <a:solidFill>
                  <a:srgbClr val="26262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Increment/Decrement: The control variable is updated after each iteration.</a:t>
            </a:r>
            <a:endParaRPr sz="1800">
              <a:solidFill>
                <a:srgbClr val="262626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-3810" y="-43180"/>
            <a:ext cx="12195810" cy="969645"/>
          </a:xfrm>
          <a:prstGeom prst="rect">
            <a:avLst/>
          </a:prstGeom>
          <a:solidFill>
            <a:srgbClr val="FBDD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Advantages of loops</a:t>
            </a:r>
            <a:endParaRPr sz="2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/>
              <a:t>1.Code Reusability</a:t>
            </a:r>
            <a:endParaRPr sz="1600"/>
          </a:p>
          <a:p>
            <a:pPr marL="342900" lvl="0" indent="-3429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/>
              <a:t>Loops allow you to execute the same block of code multiple times without rewriting it.</a:t>
            </a:r>
            <a:endParaRPr sz="1600"/>
          </a:p>
          <a:p>
            <a:pPr marL="342900" lvl="0" indent="-3429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/>
              <a:t>This reduces redundancy and makes programs shorter and cleaner.</a:t>
            </a:r>
            <a:endParaRPr sz="1600"/>
          </a:p>
          <a:p>
            <a:pPr marL="342900" lvl="0" indent="-3429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/>
              <a:t>2. Automation of Repetitive Tasks</a:t>
            </a:r>
            <a:endParaRPr sz="1600"/>
          </a:p>
          <a:p>
            <a:pPr marL="342900" lvl="0" indent="-3429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/>
              <a:t>Tasks that require repeated execution (e.g., printing numbers, processing arrays) can be automated.</a:t>
            </a:r>
            <a:endParaRPr sz="1600"/>
          </a:p>
          <a:p>
            <a:pPr marL="342900" lvl="0" indent="-3429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/>
              <a:t>Saves time and effort compared to writing the same statements repeatedly.</a:t>
            </a:r>
            <a:endParaRPr sz="1600"/>
          </a:p>
          <a:p>
            <a:pPr marL="342900" lvl="0" indent="-3429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/>
              <a:t>3. Easy Maintenance</a:t>
            </a:r>
            <a:endParaRPr sz="1600"/>
          </a:p>
          <a:p>
            <a:pPr marL="342900" lvl="0" indent="-3429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/>
              <a:t>If you need to change the logic, you only modify it in one place inside the loop instead of multiple places in the code.</a:t>
            </a:r>
            <a:endParaRPr sz="1600"/>
          </a:p>
          <a:p>
            <a:pPr marL="342900" lvl="0" indent="-3429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/>
              <a:t>4. Dynamic Execution</a:t>
            </a:r>
            <a:endParaRPr sz="1600"/>
          </a:p>
          <a:p>
            <a:pPr marL="342900" lvl="0" indent="-3429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/>
              <a:t>Loops can run based on runtime conditions (e.g., user input, sensor data, file contents).</a:t>
            </a:r>
            <a:endParaRPr sz="1600"/>
          </a:p>
          <a:p>
            <a:pPr marL="342900" lvl="0" indent="-3429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/>
              <a:t>This makes programs more flexible and adaptable.</a:t>
            </a:r>
            <a:endParaRPr sz="1600"/>
          </a:p>
          <a:p>
            <a:pPr marL="342900" lvl="0" indent="-3429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/>
              <a:t>5. Efficient Memory Usage</a:t>
            </a:r>
            <a:endParaRPr sz="1600"/>
          </a:p>
          <a:p>
            <a:pPr marL="342900" lvl="0" indent="-3429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/>
              <a:t>Instead of storing multiple copies of similar code, loops reuse the same instructions, reducing program size.</a:t>
            </a:r>
            <a:endParaRPr sz="1600"/>
          </a:p>
          <a:p>
            <a:pPr marL="342900" lvl="0" indent="-3429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/>
              <a:t>6. Supports Complex Iterations</a:t>
            </a:r>
            <a:endParaRPr sz="1600"/>
          </a:p>
          <a:p>
            <a:pPr marL="342900" lvl="0" indent="-3429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/>
              <a:t>Loops can be nested to handle multi-dimensional data structures like matrices.</a:t>
            </a:r>
            <a:endParaRPr sz="1600"/>
          </a:p>
          <a:p>
            <a:pPr marL="342900" lvl="0" indent="-3429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/>
              <a:t>They can also be combined with conditions for advanced control flow.</a:t>
            </a:r>
            <a:endParaRPr sz="16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1"/>
              <a:t>Loop Control Statements</a:t>
            </a:r>
            <a:endParaRPr b="1" i="1"/>
          </a:p>
        </p:txBody>
      </p:sp>
      <p:sp>
        <p:nvSpPr>
          <p:cNvPr id="147" name="Google Shape;147;p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/>
              <a:t>break – Exit loop immediately.</a:t>
            </a:r>
            <a:endParaRPr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/>
              <a:t>continue – Skip current iteration.</a:t>
            </a:r>
            <a:endParaRPr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/>
              <a:t>goto – Jump to a labeled statement (use with caution).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9"/>
          <p:cNvSpPr>
            <a:spLocks noGrp="1"/>
          </p:cNvSpPr>
          <p:nvPr>
            <p:ph type="pic" idx="2"/>
          </p:nvPr>
        </p:nvSpPr>
        <p:spPr>
          <a:prstGeom prst="rect">
            <a:avLst/>
          </a:prstGeom>
          <a:noFill/>
          <a:ln>
            <a:noFill/>
          </a:ln>
        </p:spPr>
      </p:sp>
      <p:sp>
        <p:nvSpPr>
          <p:cNvPr id="154" name="Google Shape;154;p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4</TotalTime>
  <Words>633</Words>
  <Application>Microsoft Office PowerPoint</Application>
  <PresentationFormat>Widescreen</PresentationFormat>
  <Paragraphs>74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Quattrocento Sans</vt:lpstr>
      <vt:lpstr>Calibri</vt:lpstr>
      <vt:lpstr>Arial</vt:lpstr>
      <vt:lpstr>Wingdings 3</vt:lpstr>
      <vt:lpstr>Century Gothic</vt:lpstr>
      <vt:lpstr>Ion Boardroom</vt:lpstr>
      <vt:lpstr>Computer Programming</vt:lpstr>
      <vt:lpstr>Introduction</vt:lpstr>
      <vt:lpstr>Types of loops</vt:lpstr>
      <vt:lpstr> Comparison of Loops</vt:lpstr>
      <vt:lpstr>Code for For Loop</vt:lpstr>
      <vt:lpstr>Case study</vt:lpstr>
      <vt:lpstr>PowerPoint Presentation</vt:lpstr>
      <vt:lpstr>Loop Control Statements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dhruv manchanda</cp:lastModifiedBy>
  <cp:revision>2</cp:revision>
  <dcterms:created xsi:type="dcterms:W3CDTF">2023-06-02T10:01:00Z</dcterms:created>
  <dcterms:modified xsi:type="dcterms:W3CDTF">2025-11-11T18:26:34Z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B1FAFC6D11C3439D8C970A8AD16BD6FF_13</vt:lpwstr>
  </property>
  <property fmtid="{D5CDD505-2E9C-101B-9397-08002B2CF9AE}" pid="3" name="KSOProductBuildVer">
    <vt:lpwstr>2057-12.2.0.23149</vt:lpwstr>
  </property>
</Properties>
</file>